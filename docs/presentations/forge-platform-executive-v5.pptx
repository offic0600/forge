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34566" y="2121400"/>
            <a:ext cx="921648" cy="197496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97894" y="1858072"/>
            <a:ext cx="394992" cy="307216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22342" y="1748352"/>
            <a:ext cx="746096" cy="15360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68438" y="1792240"/>
            <a:ext cx="241384" cy="87776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6018586" y="1528912"/>
            <a:ext cx="153608" cy="153608"/>
          </a:xfrm>
          <a:prstGeom prst="diamond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97894" y="1616688"/>
            <a:ext cx="54860" cy="54860"/>
          </a:xfrm>
          <a:prstGeom prst="ellipse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14830" y="1594744"/>
            <a:ext cx="43888" cy="43888"/>
          </a:xfrm>
          <a:prstGeom prst="ellipse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07614" y="1441136"/>
            <a:ext cx="32916" cy="32916"/>
          </a:xfrm>
          <a:prstGeom prst="ellipse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48998" y="1463080"/>
            <a:ext cx="32916" cy="32916"/>
          </a:xfrm>
          <a:prstGeom prst="ellipse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292608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5F5F7"/>
                </a:solidFill>
                <a:latin typeface="SF Pro Display"/>
              </a:rPr>
              <a:t>FORGE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84048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6868B"/>
                </a:solidFill>
                <a:latin typeface="PingFang SC"/>
              </a:rPr>
              <a:t>面向 AI 时代的智能交付平台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4663440"/>
            <a:ext cx="1554480" cy="18288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493776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48484A"/>
                </a:solidFill>
                <a:latin typeface="SF Pro Display"/>
              </a:rPr>
              <a:t>2026.02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800"/>
              </a:lnSpc>
            </a:pPr>
            <a:r>
              <a:rPr sz="5200" b="1">
                <a:solidFill>
                  <a:srgbClr val="F5F5F7"/>
                </a:solidFill>
                <a:latin typeface="PingFang SC"/>
              </a:rPr>
              <a:t>当 1 个人 + AI
拥有 7 人团队的交付能力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F5F7"/>
                </a:solidFill>
                <a:latin typeface="PingFang SC"/>
              </a:rPr>
              <a:t>我们面对的现实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874520"/>
            <a:ext cx="36576" cy="777240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828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5F7"/>
                </a:solidFill>
                <a:latin typeface="PingFang SC"/>
              </a:rPr>
              <a:t>5-7 人的 Scrum 团队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286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6868B"/>
                </a:solidFill>
                <a:latin typeface="PingFang SC"/>
              </a:rPr>
              <a:t>每个角色一个人，知识在人脑里，人走知识就没了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017520"/>
            <a:ext cx="36576" cy="777240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971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5F7"/>
                </a:solidFill>
                <a:latin typeface="PingFang SC"/>
              </a:rPr>
              <a:t>AI 只是"更快的打字员"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429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6868B"/>
                </a:solidFill>
                <a:latin typeface="PingFang SC"/>
              </a:rPr>
              <a:t>给每个人配一个 AI 助手，不等于交付效率的质变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4160520"/>
            <a:ext cx="36576" cy="777240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4114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5F7"/>
                </a:solidFill>
                <a:latin typeface="PingFang SC"/>
              </a:rPr>
              <a:t>跨栈迁移是黑洞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572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6868B"/>
                </a:solidFill>
                <a:latin typeface="PingFang SC"/>
              </a:rPr>
              <a:t>没人懂旧技术栈，人工迁移动辄数十人月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5303520"/>
            <a:ext cx="36576" cy="777240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5257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5F7"/>
                </a:solidFill>
                <a:latin typeface="PingFang SC"/>
              </a:rPr>
              <a:t>经验不沉淀，错误在重复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5715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6868B"/>
                </a:solidFill>
                <a:latin typeface="PingFang SC"/>
              </a:rPr>
              <a:t>同样的部署失败、同样的安全漏洞，每个项目重来一遍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997FF"/>
                </a:solidFill>
                <a:latin typeface="PingFang SC"/>
              </a:rPr>
              <a:t>问题的本质不是工具不够，是交付流程本身没有被重构。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F5F7"/>
                </a:solidFill>
                <a:latin typeface="PingFang SC"/>
              </a:rPr>
              <a:t>三个关键洞察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3520440" cy="420624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3520440" cy="27432"/>
          </a:xfrm>
          <a:prstGeom prst="rect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2788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</a:pPr>
            <a:r>
              <a:rPr sz="2400" b="1">
                <a:solidFill>
                  <a:srgbClr val="F5F5F7"/>
                </a:solidFill>
                <a:latin typeface="PingFang SC"/>
              </a:rPr>
              <a:t>SuperAgent
不是 Multi-Agent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383280"/>
            <a:ext cx="2788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>
                <a:solidFill>
                  <a:srgbClr val="86868B"/>
                </a:solidFill>
                <a:latin typeface="PingFang SC"/>
              </a:rPr>
              <a:t>不是 6 个角色各配一个 AI。
而是 1 个超级智能体，
通过 Skill Profile 动态切换。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30352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8484A"/>
                </a:solidFill>
                <a:latin typeface="PingFang SC"/>
              </a:rPr>
              <a:t>1 个智能体 &gt; 6 个独立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737360"/>
            <a:ext cx="3520440" cy="420624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737360"/>
            <a:ext cx="3520440" cy="27432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2194560"/>
            <a:ext cx="2788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</a:pPr>
            <a:r>
              <a:rPr sz="2400" b="1">
                <a:solidFill>
                  <a:srgbClr val="F5F5F7"/>
                </a:solidFill>
                <a:latin typeface="PingFang SC"/>
              </a:rPr>
              <a:t>Skill + 私域知识
双护城河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3383280"/>
            <a:ext cx="2788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>
                <a:solidFill>
                  <a:srgbClr val="86868B"/>
                </a:solidFill>
                <a:latin typeface="PingFang SC"/>
              </a:rPr>
              <a:t>模型会被追平，Prompt 会被抄走。
但 32 个 Skill 编码的工程经验
+ 持续沉淀的私域知识，无法复制。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530352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8484A"/>
                </a:solidFill>
                <a:latin typeface="PingFang SC"/>
              </a:rPr>
              <a:t>Skill × Knowledge = 不可复制的数字资产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737360"/>
            <a:ext cx="3520440" cy="420624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1737360"/>
            <a:ext cx="3520440" cy="27432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2194560"/>
            <a:ext cx="2788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</a:pPr>
            <a:r>
              <a:rPr sz="2400" b="1">
                <a:solidFill>
                  <a:srgbClr val="F5F5F7"/>
                </a:solidFill>
                <a:latin typeface="PingFang SC"/>
              </a:rPr>
              <a:t>双环驱动
越用越好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383280"/>
            <a:ext cx="2788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>
                <a:solidFill>
                  <a:srgbClr val="86868B"/>
                </a:solidFill>
                <a:latin typeface="PingFang SC"/>
              </a:rPr>
              <a:t>交付环做事，进化环沉淀知识。
每次交付产生私域数据，
反哺下次交付——飞轮自动转。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530352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8484A"/>
                </a:solidFill>
                <a:latin typeface="PingFang SC"/>
              </a:rPr>
              <a:t>交付 × 知识沉淀 = 飞轮效应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F5F7"/>
                </a:solidFill>
                <a:latin typeface="PingFang SC"/>
              </a:rPr>
              <a:t>一个智能体，六种角色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6868B"/>
                </a:solidFill>
                <a:latin typeface="PingFang SC"/>
              </a:rPr>
              <a:t>根据任务自动切换 Skill Profile，覆盖从需求到运维再到评估的完整交付链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1737360" cy="274320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737360" cy="27432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3317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5F5F7"/>
                </a:solidFill>
                <a:latin typeface="PingFang SC"/>
              </a:rPr>
              <a:t>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7889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8484A"/>
                </a:solidFill>
                <a:latin typeface="SF Mono"/>
              </a:rPr>
              <a:t>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38328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</a:pPr>
            <a:r>
              <a:rPr sz="1300" b="0">
                <a:solidFill>
                  <a:srgbClr val="86868B"/>
                </a:solidFill>
                <a:latin typeface="PingFang SC"/>
              </a:rPr>
              <a:t>需求分析
PRD 编写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2011680"/>
            <a:ext cx="1737360" cy="274320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77440" y="2011680"/>
            <a:ext cx="1737360" cy="27432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23317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5F5F7"/>
                </a:solidFill>
                <a:latin typeface="PingFang SC"/>
              </a:rPr>
              <a:t>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7889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8484A"/>
                </a:solidFill>
                <a:latin typeface="SF Mono"/>
              </a:rPr>
              <a:t>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338328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</a:pPr>
            <a:r>
              <a:rPr sz="1300" b="0">
                <a:solidFill>
                  <a:srgbClr val="86868B"/>
                </a:solidFill>
                <a:latin typeface="PingFang SC"/>
              </a:rPr>
              <a:t>架构设计
API 设计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011680"/>
            <a:ext cx="1737360" cy="274320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2011680"/>
            <a:ext cx="1737360" cy="27432"/>
          </a:xfrm>
          <a:prstGeom prst="rect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23317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5F5F7"/>
                </a:solidFill>
                <a:latin typeface="PingFang SC"/>
              </a:rPr>
              <a:t>开发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7889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8484A"/>
                </a:solidFill>
                <a:latin typeface="SF Mono"/>
              </a:rPr>
              <a:t>Development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38328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</a:pPr>
            <a:r>
              <a:rPr sz="1300" b="0">
                <a:solidFill>
                  <a:srgbClr val="86868B"/>
                </a:solidFill>
                <a:latin typeface="PingFang SC"/>
              </a:rPr>
              <a:t>代码生成
32 Skills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011680"/>
            <a:ext cx="1737360" cy="274320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011680"/>
            <a:ext cx="1737360" cy="27432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3317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5F5F7"/>
                </a:solidFill>
                <a:latin typeface="PingFang SC"/>
              </a:rPr>
              <a:t>测试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7889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8484A"/>
                </a:solidFill>
                <a:latin typeface="SF Mono"/>
              </a:rPr>
              <a:t>Testing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38328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</a:pPr>
            <a:r>
              <a:rPr sz="1300" b="0">
                <a:solidFill>
                  <a:srgbClr val="86868B"/>
                </a:solidFill>
                <a:latin typeface="PingFang SC"/>
              </a:rPr>
              <a:t>用例设计
自动化执行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2011680"/>
            <a:ext cx="1737360" cy="274320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2011680"/>
            <a:ext cx="1737360" cy="27432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23317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5F5F7"/>
                </a:solidFill>
                <a:latin typeface="PingFang SC"/>
              </a:rPr>
              <a:t>运维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7889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8484A"/>
                </a:solidFill>
                <a:latin typeface="SF Mono"/>
              </a:rPr>
              <a:t>Ops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38328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</a:pPr>
            <a:r>
              <a:rPr sz="1300" b="0">
                <a:solidFill>
                  <a:srgbClr val="86868B"/>
                </a:solidFill>
                <a:latin typeface="PingFang SC"/>
              </a:rPr>
              <a:t>部署策略
K8s 编排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0" y="2011680"/>
            <a:ext cx="1737360" cy="274320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058400" y="2011680"/>
            <a:ext cx="1737360" cy="27432"/>
          </a:xfrm>
          <a:prstGeom prst="rect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95560" y="23317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5F5F7"/>
                </a:solidFill>
                <a:latin typeface="PingFang SC"/>
              </a:rPr>
              <a:t>评估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5560" y="27889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8484A"/>
                </a:solidFill>
                <a:latin typeface="SF Mono"/>
              </a:rPr>
              <a:t>Evaluation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5560" y="338328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</a:pPr>
            <a:r>
              <a:rPr sz="1300" b="0">
                <a:solidFill>
                  <a:srgbClr val="86868B"/>
                </a:solidFill>
                <a:latin typeface="PingFang SC"/>
              </a:rPr>
              <a:t>进度评估
知识蒸馏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212080"/>
            <a:ext cx="10698480" cy="109728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5303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8484A"/>
                </a:solidFill>
                <a:latin typeface="SF Pro Display"/>
              </a:rPr>
              <a:t>OODA 循环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23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5F5F7"/>
                </a:solidFill>
                <a:latin typeface="PingFang SC"/>
              </a:rPr>
              <a:t>Observe  观察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51760" y="5623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8484A"/>
                </a:solidFill>
                <a:latin typeface="SF Pro Display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63240" y="5623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5F5F7"/>
                </a:solidFill>
                <a:latin typeface="PingFang SC"/>
              </a:rPr>
              <a:t>Orient  分析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0600" y="5623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8484A"/>
                </a:solidFill>
                <a:latin typeface="SF Pro Display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2080" y="5623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5F5F7"/>
                </a:solidFill>
                <a:latin typeface="PingFang SC"/>
              </a:rPr>
              <a:t>Decide  决策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5623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8484A"/>
                </a:solidFill>
                <a:latin typeface="SF Pro Display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0920" y="5623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5F5F7"/>
                </a:solidFill>
                <a:latin typeface="PingFang SC"/>
              </a:rPr>
              <a:t>Act  执行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8280" y="5623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8484A"/>
                </a:solidFill>
                <a:latin typeface="SF Pro Display"/>
              </a:rP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9760" y="5623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997FF"/>
                </a:solidFill>
                <a:latin typeface="PingFang SC"/>
              </a:rPr>
              <a:t>HITL  人在回路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F5F7"/>
                </a:solidFill>
                <a:latin typeface="PingFang SC"/>
              </a:rPr>
              <a:t>不是聊天，是自主执行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6868B"/>
                </a:solidFill>
                <a:latin typeface="PingFang SC"/>
              </a:rPr>
              <a:t>用户发一条消息，SuperAgent 自动启动 50 轮执行管线——无需逐步指令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8484A"/>
                </a:solidFill>
                <a:latin typeface="SF Pro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6002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5F7"/>
                </a:solidFill>
                <a:latin typeface="PingFang SC"/>
              </a:rPr>
              <a:t>Profile 路由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8928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6868B"/>
                </a:solidFill>
                <a:latin typeface="PingFang SC"/>
              </a:rPr>
              <a:t>分析意图，自动选择专业角色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075688"/>
            <a:ext cx="18288" cy="201168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2257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8484A"/>
                </a:solidFill>
                <a:latin typeface="SF Pro Display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27685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5F7"/>
                </a:solidFill>
                <a:latin typeface="PingFang SC"/>
              </a:rPr>
              <a:t>Skill 加载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6946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6868B"/>
                </a:solidFill>
                <a:latin typeface="PingFang SC"/>
              </a:rPr>
              <a:t>按 Profile + 关键词动态加载 3-20 个 Skill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752344"/>
            <a:ext cx="18288" cy="201168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9923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8484A"/>
                </a:solidFill>
                <a:latin typeface="SF Pro Display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9535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5F7"/>
                </a:solidFill>
                <a:latin typeface="PingFang SC"/>
              </a:rPr>
              <a:t>记忆注入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2461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6868B"/>
                </a:solidFill>
                <a:latin typeface="PingFang SC"/>
              </a:rPr>
              <a:t>Workspace Memory + Stage Memory + Session History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429000"/>
            <a:ext cx="18288" cy="201168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75887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997FF"/>
                </a:solidFill>
                <a:latin typeface="SF Pro Display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630167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997FF"/>
                </a:solidFill>
                <a:latin typeface="PingFang SC"/>
              </a:rPr>
              <a:t>OODA 循环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922775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6868B"/>
                </a:solidFill>
                <a:latin typeface="PingFang SC"/>
              </a:rPr>
              <a:t>观察→分析→决策→执行，调用 18 种 MCP 工具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105655"/>
            <a:ext cx="18288" cy="201168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35254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8484A"/>
                </a:solidFill>
                <a:latin typeface="SF Pro Display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30682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5F7"/>
                </a:solidFill>
                <a:latin typeface="PingFang SC"/>
              </a:rPr>
              <a:t>Context 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59943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6868B"/>
                </a:solidFill>
                <a:latin typeface="PingFang SC"/>
              </a:rPr>
              <a:t>每轮估算 Token 使用率，超限自动压缩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4782312"/>
            <a:ext cx="18288" cy="201168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029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8484A"/>
                </a:solidFill>
                <a:latin typeface="SF Pro Display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983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5F7"/>
                </a:solidFill>
                <a:latin typeface="PingFang SC"/>
              </a:rPr>
              <a:t>底线检查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527608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6868B"/>
                </a:solidFill>
                <a:latin typeface="PingFang SC"/>
              </a:rPr>
              <a:t>代码生成后自动运行质量底线，失败自修复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5458968"/>
            <a:ext cx="18288" cy="201168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705855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8484A"/>
                </a:solidFill>
                <a:latin typeface="SF Pro Display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660135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5F7"/>
                </a:solidFill>
                <a:latin typeface="PingFang SC"/>
              </a:rPr>
              <a:t>交付 + 知识沉淀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5952743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6868B"/>
                </a:solidFill>
                <a:latin typeface="PingFang SC"/>
              </a:rPr>
              <a:t>写入文件 + 更新记忆 + 生成 Summary + 私域知识自动积累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0" y="1600200"/>
            <a:ext cx="5486400" cy="493776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43600" y="1600200"/>
            <a:ext cx="5486400" cy="27432"/>
          </a:xfrm>
          <a:prstGeom prst="rect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997FF"/>
                </a:solidFill>
                <a:latin typeface="PingFang SC"/>
              </a:rPr>
              <a:t>关键能力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24231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5F7"/>
                </a:solidFill>
                <a:latin typeface="PingFang SC"/>
              </a:rPr>
              <a:t>自主多轮执行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2697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>
                <a:solidFill>
                  <a:srgbClr val="86868B"/>
                </a:solidFill>
                <a:latin typeface="PingFang SC"/>
              </a:rPr>
              <a:t>自行决定调用什么工具、读什么文件、写什么代码
单次对话最多 50 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32278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5F7"/>
                </a:solidFill>
                <a:latin typeface="PingFang SC"/>
              </a:rPr>
              <a:t>工具链编排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350215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>
                <a:solidFill>
                  <a:srgbClr val="86868B"/>
                </a:solidFill>
                <a:latin typeface="PingFang SC"/>
              </a:rPr>
              <a:t>搜索知识→读取文件→生成代码→写入 Workspace
→编译→运行测试，全自动串联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03250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5F7"/>
                </a:solidFill>
                <a:latin typeface="PingFang SC"/>
              </a:rPr>
              <a:t>失败自修复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430682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>
                <a:solidFill>
                  <a:srgbClr val="86868B"/>
                </a:solidFill>
                <a:latin typeface="PingFang SC"/>
              </a:rPr>
              <a:t>底线检查失败→分析原因→修改代码→重新检查
最多 2 轮自动修复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483717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5F7"/>
                </a:solidFill>
                <a:latin typeface="PingFang SC"/>
              </a:rPr>
              <a:t>上下文自管理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5111496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>
                <a:solidFill>
                  <a:srgbClr val="86868B"/>
                </a:solidFill>
                <a:latin typeface="PingFang SC"/>
              </a:rPr>
              <a:t>Token 接近上限时自动压缩历史
不中断执行（3 阶段渐进压缩）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564184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5F7"/>
                </a:solidFill>
                <a:latin typeface="PingFang SC"/>
              </a:rPr>
              <a:t>记忆增强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591616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>
                <a:solidFill>
                  <a:srgbClr val="86868B"/>
                </a:solidFill>
                <a:latin typeface="PingFang SC"/>
              </a:rPr>
              <a:t>每次执行携带项目记忆
技术栈、关键决策、进行中的工作——无需重复说明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F5F7"/>
                </a:solidFill>
                <a:latin typeface="PingFang SC"/>
              </a:rPr>
              <a:t>四层解耦，独立演进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6868B"/>
                </a:solidFill>
                <a:latin typeface="PingFang SC"/>
              </a:rPr>
              <a:t>每一层可以独立升级，不影响其他层 — 这是平台能活过模型迭代的根本原因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0698480" cy="109728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45720" cy="1097280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8484A"/>
                </a:solidFill>
                <a:latin typeface="SF Pro Display"/>
              </a:rPr>
              <a:t>L1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F5F7"/>
                </a:solidFill>
                <a:latin typeface="PingFang SC"/>
              </a:rPr>
              <a:t>用户交互层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8484A"/>
                </a:solidFill>
                <a:latin typeface="SF Mono"/>
              </a:rPr>
              <a:t>User 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1031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6868B"/>
                </a:solidFill>
                <a:latin typeface="PingFang SC"/>
              </a:rPr>
              <a:t>CLI / VS Code (开发者) + Web IDE (全角色)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377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8484A"/>
                </a:solidFill>
                <a:latin typeface="PingFang SC"/>
              </a:rPr>
              <a:t>Monaco 编辑器  ·  AI Chat  ·  知识浏览  ·  可视化工作流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69748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8484A"/>
                </a:solidFill>
                <a:latin typeface="SF Pro Display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834640"/>
            <a:ext cx="10698480" cy="109728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834640"/>
            <a:ext cx="45720" cy="1097280"/>
          </a:xfrm>
          <a:prstGeom prst="rect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97180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997FF"/>
                </a:solidFill>
                <a:latin typeface="SF Pro Display"/>
              </a:rPr>
              <a:t>L2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F5F7"/>
                </a:solidFill>
                <a:latin typeface="PingFang SC"/>
              </a:rPr>
              <a:t>SuperAgent 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971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8484A"/>
                </a:solidFill>
                <a:latin typeface="SF Mono"/>
              </a:rPr>
              <a:t>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3375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997FF"/>
                </a:solidFill>
                <a:latin typeface="PingFang SC"/>
              </a:rPr>
              <a:t>6 Profiles × 32 Skills × 8 Baselines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611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8484A"/>
                </a:solidFill>
                <a:latin typeface="PingFang SC"/>
              </a:rPr>
              <a:t>Skill Profile Router  ·  Baseline Runner  ·  Agentic Loop 50 轮  ·  3 层记忆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393192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8484A"/>
                </a:solidFill>
                <a:latin typeface="SF Pro Display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069080"/>
            <a:ext cx="10698480" cy="109728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069080"/>
            <a:ext cx="45720" cy="1097280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20624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8484A"/>
                </a:solidFill>
                <a:latin typeface="SF Pro Display"/>
              </a:rPr>
              <a:t>L3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160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F5F7"/>
                </a:solidFill>
                <a:latin typeface="PingFang SC"/>
              </a:rPr>
              <a:t>Agent Runtime 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4206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8484A"/>
                </a:solidFill>
                <a:latin typeface="SF Mono"/>
              </a:rPr>
              <a:t>Runtime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4572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6868B"/>
                </a:solidFill>
                <a:latin typeface="PingFang SC"/>
              </a:rPr>
              <a:t>MCP 协议  ·  Tool Calling  ·  沙箱  ·  可观测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846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8484A"/>
                </a:solidFill>
                <a:latin typeface="PingFang SC"/>
              </a:rPr>
              <a:t>18 聚合工具  ·  安全围栏  ·  SuperAgent 评估框架  ·  四维评分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51663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8484A"/>
                </a:solidFill>
                <a:latin typeface="SF Pro Display"/>
              </a:rPr>
              <a:t>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303520"/>
            <a:ext cx="10698480" cy="109728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5303520"/>
            <a:ext cx="45720" cy="1097280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44068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8484A"/>
                </a:solidFill>
                <a:latin typeface="SF Pro Display"/>
              </a:rPr>
              <a:t>L4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5394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F5F7"/>
                </a:solidFill>
                <a:latin typeface="PingFang SC"/>
              </a:rPr>
              <a:t>数据与模型层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5440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8484A"/>
                </a:solidFill>
                <a:latin typeface="SF Mono"/>
              </a:rPr>
              <a:t>Data &amp; 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5806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6868B"/>
                </a:solidFill>
                <a:latin typeface="PingFang SC"/>
              </a:rPr>
              <a:t>6 Provider + 私域知识库（三层 Scope：Global / Workspace / Personal）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37360" y="6080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8484A"/>
                </a:solidFill>
                <a:latin typeface="PingFang SC"/>
              </a:rPr>
              <a:t>MCP Gateway → Knowledge / Database / ServiceGraph / 执行日志 → 知识沉淀闭环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997FF"/>
                </a:solidFill>
                <a:latin typeface="PingFang SC"/>
              </a:rPr>
              <a:t>模型从 Claude 换成 GPT?  换 L4 的 Adapter。32 个 Skills、私域知识库和 8 个 Baselines 一行不改。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F5F7"/>
                </a:solidFill>
                <a:latin typeface="PingFang SC"/>
              </a:rPr>
              <a:t>稳态固化 · 敏态抽象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6868B"/>
                </a:solidFill>
                <a:latin typeface="PingFang SC"/>
              </a:rPr>
              <a:t>模型一定会被追平，Skill + 私域知识才是真正的双护城河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389120" cy="438912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4389120" cy="27432"/>
          </a:xfrm>
          <a:prstGeom prst="rect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997FF"/>
                </a:solidFill>
                <a:latin typeface="PingFang SC"/>
              </a:rPr>
              <a:t>稳态 — 核心资产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8484A"/>
                </a:solidFill>
                <a:latin typeface="PingFang SC"/>
              </a:rPr>
              <a:t>越积越厚，无法复制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834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5F7"/>
                </a:solidFill>
                <a:latin typeface="SF Pro Display"/>
              </a:rPr>
              <a:t>32 Skills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8529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6868B"/>
                </a:solidFill>
                <a:latin typeface="PingFang SC"/>
              </a:rPr>
              <a:t>十年工程经验的数字化编码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41985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5F7"/>
                </a:solidFill>
                <a:latin typeface="SF Pro Display"/>
              </a:rPr>
              <a:t>私域知识库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4381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6868B"/>
                </a:solidFill>
                <a:latin typeface="PingFang SC"/>
              </a:rPr>
              <a:t>三层 Scope · 13+ 文档 · 持续沉淀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0050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5F7"/>
                </a:solidFill>
                <a:latin typeface="SF Pro Display"/>
              </a:rPr>
              <a:t>8 Baselines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4023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6868B"/>
                </a:solidFill>
                <a:latin typeface="PingFang SC"/>
              </a:rPr>
              <a:t>质量底线自动守护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5902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5F7"/>
                </a:solidFill>
                <a:latin typeface="SF Pro Display"/>
              </a:rPr>
              <a:t>6 Profiles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460857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6868B"/>
                </a:solidFill>
                <a:latin typeface="PingFang SC"/>
              </a:rPr>
              <a:t>全交付角色覆盖 + 评估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17550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5F7"/>
                </a:solidFill>
                <a:latin typeface="SF Pro Display"/>
              </a:rPr>
              <a:t>OODA 流程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51937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6868B"/>
                </a:solidFill>
                <a:latin typeface="PingFang SC"/>
              </a:rPr>
              <a:t>标准化决策环路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60" y="2926080"/>
            <a:ext cx="1005840" cy="1828800"/>
          </a:xfrm>
          <a:prstGeom prst="roundRect">
            <a:avLst>
              <a:gd name="adj" fmla="val 4000"/>
            </a:avLst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3108960"/>
            <a:ext cx="1005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SF Pro Display"/>
              </a:rPr>
              <a:t>A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SF Pro Display"/>
              </a:rPr>
              <a:t>d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SF Pro Display"/>
              </a:rPr>
              <a:t>a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SF Pro Display"/>
              </a:rPr>
              <a:t>p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SF Pro Display"/>
              </a:rPr>
              <a:t>t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SF Pro Display"/>
              </a:rPr>
              <a:t>e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SF Pro Display"/>
              </a:rPr>
              <a:t>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997FF"/>
                </a:solidFill>
                <a:latin typeface="SF Pro Display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8484A"/>
                </a:solidFill>
                <a:latin typeface="SF Pro Display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1645920"/>
            <a:ext cx="4389120" cy="438912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40880" y="1645920"/>
            <a:ext cx="4389120" cy="27432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1920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6868B"/>
                </a:solidFill>
                <a:latin typeface="PingFang SC"/>
              </a:rPr>
              <a:t>敏态 — 可替换组件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2377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8484A"/>
                </a:solidFill>
                <a:latin typeface="PingFang SC"/>
              </a:rPr>
              <a:t>技术迭代时只换这里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2834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5F7"/>
                </a:solidFill>
                <a:latin typeface="SF Mono"/>
              </a:rPr>
              <a:t>ModelAdapter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3154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300" b="0">
                <a:solidFill>
                  <a:srgbClr val="48484A"/>
                </a:solidFill>
                <a:latin typeface="PingFang SC"/>
              </a:rPr>
              <a:t>6 Provider 已就绪
Claude/Gemini/Qwen/Bedrock/OpenAI/MiniMax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3566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5F7"/>
                </a:solidFill>
                <a:latin typeface="SF Mono"/>
              </a:rPr>
              <a:t>RuntimeAdapter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3886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300" b="0">
                <a:solidFill>
                  <a:srgbClr val="48484A"/>
                </a:solidFill>
                <a:latin typeface="PingFang SC"/>
              </a:rPr>
              <a:t>Claude Code → ForgeNative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4297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5F7"/>
                </a:solidFill>
                <a:latin typeface="SF Mono"/>
              </a:rPr>
              <a:t>AssetFormatAdapter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4617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300" b="0">
                <a:solidFill>
                  <a:srgbClr val="48484A"/>
                </a:solidFill>
                <a:latin typeface="PingFang SC"/>
              </a:rPr>
              <a:t>SKILL.md v1 → v2 → ...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1206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8484A"/>
                </a:solidFill>
                <a:latin typeface="SF Mono"/>
              </a:rPr>
              <a:t>ModelAdapter.kt  ·  RuntimeAdapter.kt  ·  AssetFormatAdapter.kt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669280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5669280"/>
            <a:ext cx="45720" cy="777240"/>
          </a:xfrm>
          <a:prstGeom prst="rect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88720" y="58064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997FF"/>
                </a:solidFill>
                <a:latin typeface="PingFang SC"/>
              </a:rPr>
              <a:t>战略意义</a:t>
            </a:r>
          </a:p>
          <a:p>
            <a:pPr algn="l">
              <a:lnSpc>
                <a:spcPts val="2200"/>
              </a:lnSpc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86868B"/>
                </a:solidFill>
                <a:latin typeface="PingFang SC"/>
              </a:rPr>
              <a:t>OpenAI 发布更好的模型？换一个 Adapter。6 家模型已热插拔就绪。
但 32 个 Skill + 持续沉淀的私域知识——这套数字资产，竞争对手无法复制。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F5F7"/>
                </a:solidFill>
                <a:latin typeface="PingFang SC"/>
              </a:rPr>
              <a:t>AI 不再只是聊天，而是交付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27432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8484A"/>
                </a:solidFill>
                <a:latin typeface="SF Pro Display"/>
              </a:rPr>
              <a:t>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PingFang SC"/>
              </a:rPr>
              <a:t/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0">
                <a:solidFill>
                  <a:srgbClr val="86868B"/>
                </a:solidFill>
                <a:latin typeface="PingFang SC"/>
              </a:rPr>
              <a:t>  AI 在聊天窗口展示代码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0">
                <a:solidFill>
                  <a:srgbClr val="86868B"/>
                </a:solidFill>
                <a:latin typeface="PingFang SC"/>
              </a:rPr>
              <a:t>  用户手动复制粘贴到文件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0">
                <a:solidFill>
                  <a:srgbClr val="86868B"/>
                </a:solidFill>
                <a:latin typeface="PingFang SC"/>
              </a:rPr>
              <a:t>  每次对话从零开始，知识不沉淀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0">
                <a:solidFill>
                  <a:srgbClr val="86868B"/>
                </a:solidFill>
                <a:latin typeface="PingFang SC"/>
              </a:rPr>
              <a:t>  团队经验在人脑里，人走就没了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0">
                <a:solidFill>
                  <a:srgbClr val="86868B"/>
                </a:solidFill>
                <a:latin typeface="PingFang SC"/>
              </a:rPr>
              <a:t>  知识搜索返回 mock 数据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0">
                <a:solidFill>
                  <a:srgbClr val="86868B"/>
                </a:solidFill>
                <a:latin typeface="PingFang SC"/>
              </a:rPr>
              <a:t>  AI 不了解项目结构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997FF"/>
                </a:solidFill>
                <a:latin typeface="SF Pro Display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394960" cy="438912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645920"/>
            <a:ext cx="5394960" cy="27432"/>
          </a:xfrm>
          <a:prstGeom prst="rect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997FF"/>
                </a:solidFill>
                <a:latin typeface="SF Pro Display"/>
              </a:rPr>
              <a:t>After — Forge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46888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PingFang SC"/>
              </a:rPr>
              <a:t/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 b="0">
                <a:solidFill>
                  <a:srgbClr val="F5F5F7"/>
                </a:solidFill>
                <a:latin typeface="PingFang SC"/>
              </a:rPr>
              <a:t>  Agent 自主执行 50 轮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8484A"/>
                </a:solidFill>
                <a:latin typeface="SF Mono"/>
              </a:rPr>
              <a:t>     Agentic Loop 自动规划→编码→验证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 b="0">
                <a:solidFill>
                  <a:srgbClr val="F5F5F7"/>
                </a:solidFill>
                <a:latin typeface="PingFang SC"/>
              </a:rPr>
              <a:t>  AI 直接写文件到 workspace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8484A"/>
                </a:solidFill>
                <a:latin typeface="SF Mono"/>
              </a:rPr>
              <a:t>     workspace_write + SSE file_changed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 b="0">
                <a:solidFill>
                  <a:srgbClr val="F5F5F7"/>
                </a:solidFill>
                <a:latin typeface="PingFang SC"/>
              </a:rPr>
              <a:t>  3 层记忆跨 Session 携带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8484A"/>
                </a:solidFill>
                <a:latin typeface="SF Mono"/>
              </a:rPr>
              <a:t>     Workspace + Stage + Session Memory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 b="0">
                <a:solidFill>
                  <a:srgbClr val="F5F5F7"/>
                </a:solidFill>
                <a:latin typeface="PingFang SC"/>
              </a:rPr>
              <a:t>  交付即沉淀——私域知识自动积累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8484A"/>
                </a:solidFill>
                <a:latin typeface="SF Mono"/>
              </a:rPr>
              <a:t>     search + page_create + 三层 Scope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 b="0">
                <a:solidFill>
                  <a:srgbClr val="F5F5F7"/>
                </a:solidFill>
                <a:latin typeface="PingFang SC"/>
              </a:rPr>
              <a:t>  四维评估 + 学习闭环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8484A"/>
                </a:solidFill>
                <a:latin typeface="SF Mono"/>
              </a:rPr>
              <a:t>     每次交付自动评分 → 反哺下次交付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 b="0">
                <a:solidFill>
                  <a:srgbClr val="F5F5F7"/>
                </a:solidFill>
                <a:latin typeface="PingFang SC"/>
              </a:rPr>
              <a:t>  6 家模型自由切换 + SSO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8484A"/>
                </a:solidFill>
                <a:latin typeface="SF Mono"/>
              </a:rPr>
              <a:t>     Claude/Gemini/Qwen/Bedrock/OpenAI/MiniMax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F5F7"/>
                </a:solidFill>
                <a:latin typeface="PingFang SC"/>
              </a:rPr>
              <a:t>我们走到了哪里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6868B"/>
                </a:solidFill>
                <a:latin typeface="PingFang SC"/>
              </a:rPr>
              <a:t>Phase 0 → 7  全部完成（8 个里程碑，32 个 Session）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5F5F7"/>
                </a:solidFill>
                <a:latin typeface="SF Pro Display"/>
              </a:rPr>
              <a:t>50,000+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6868B"/>
                </a:solidFill>
                <a:latin typeface="PingFang SC"/>
              </a:rPr>
              <a:t>行代码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1880" y="219456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5F5F7"/>
                </a:solidFill>
                <a:latin typeface="SF Pro Display"/>
              </a:rPr>
              <a:t>68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3383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6868B"/>
                </a:solidFill>
                <a:latin typeface="PingFang SC"/>
              </a:rPr>
              <a:t>REST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19456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5F5F7"/>
                </a:solidFill>
                <a:latin typeface="SF Pro Display"/>
              </a:rPr>
              <a:t>156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3383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6868B"/>
                </a:solidFill>
                <a:latin typeface="PingFang SC"/>
              </a:rPr>
              <a:t>单元测试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72600" y="219456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5F5F7"/>
                </a:solidFill>
                <a:latin typeface="SF Pro Display"/>
              </a:rPr>
              <a:t>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2600" y="3383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6868B"/>
                </a:solidFill>
                <a:latin typeface="PingFang SC"/>
              </a:rPr>
              <a:t>验收用例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2997FF"/>
                </a:solidFill>
                <a:latin typeface="SF Pro Display"/>
              </a:rP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6868B"/>
                </a:solidFill>
                <a:latin typeface="PingFang SC"/>
              </a:rPr>
              <a:t>MCP 工具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411480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5F5F7"/>
                </a:solidFill>
                <a:latin typeface="SF Pro Display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51206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6868B"/>
                </a:solidFill>
                <a:latin typeface="PingFang SC"/>
              </a:rPr>
              <a:t>Skill 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11480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5F5F7"/>
                </a:solidFill>
                <a:latin typeface="SF Pro Display"/>
              </a:rPr>
              <a:t>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51206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6868B"/>
                </a:solidFill>
                <a:latin typeface="PingFang SC"/>
              </a:rPr>
              <a:t>Skills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411480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5F5F7"/>
                </a:solidFill>
                <a:latin typeface="SF Pro Display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51206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6868B"/>
                </a:solidFill>
                <a:latin typeface="PingFang SC"/>
              </a:rPr>
              <a:t>Docker 容器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3931920"/>
            <a:ext cx="9966960" cy="9144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8484A"/>
                </a:solidFill>
                <a:latin typeface="PingFang SC"/>
              </a:rPr>
              <a:t>docker compose up → SSO → Agent 50 轮自主执行 → 代码写入 workspace → 私域知识沉淀 → 学习闭环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F5F7"/>
                </a:solidFill>
                <a:latin typeface="PingFang SC"/>
              </a:rPr>
              <a:t>跨栈迁移：10 倍提效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6868B"/>
                </a:solidFill>
                <a:latin typeface="PingFang SC"/>
              </a:rPr>
              <a:t>"没人懂旧技术栈"的困局，AI 可以系统性地解决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2103120" cy="237744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103120" cy="27432"/>
          </a:xfrm>
          <a:prstGeom prst="rect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8484A"/>
                </a:solidFill>
                <a:latin typeface="SF Pro Display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5F7"/>
                </a:solidFill>
                <a:latin typeface="PingFang SC"/>
              </a:rPr>
              <a:t>AI 代码考古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86868B"/>
                </a:solidFill>
                <a:latin typeface="PingFang SC"/>
              </a:rPr>
              <a:t>解析项目结构
生成项目说明书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7432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8484A"/>
                </a:solidFill>
                <a:latin typeface="SF Pro Display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2011680"/>
            <a:ext cx="2103120" cy="237744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61488" y="2011680"/>
            <a:ext cx="2103120" cy="27432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44368" y="22402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8484A"/>
                </a:solidFill>
                <a:latin typeface="SF Pro Display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26060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5F7"/>
                </a:solidFill>
                <a:latin typeface="PingFang SC"/>
              </a:rPr>
              <a:t>业务规则提取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31089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86868B"/>
                </a:solidFill>
                <a:latin typeface="PingFang SC"/>
              </a:rPr>
              <a:t>逐模块分析
规则 + 边界条件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7432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8484A"/>
                </a:solidFill>
                <a:latin typeface="SF Pro Display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65776" y="2011680"/>
            <a:ext cx="2103120" cy="237744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65776" y="2011680"/>
            <a:ext cx="2103120" cy="27432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48656" y="22402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8484A"/>
                </a:solidFill>
                <a:latin typeface="SF Pro Display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8656" y="26060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5F7"/>
                </a:solidFill>
                <a:latin typeface="PingFang SC"/>
              </a:rPr>
              <a:t>架构设计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8656" y="31089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86868B"/>
                </a:solidFill>
                <a:latin typeface="PingFang SC"/>
              </a:rPr>
              <a:t>.NET → Java 映射
依赖拓扑排列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31736" y="27432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8484A"/>
                </a:solidFill>
                <a:latin typeface="SF Pro Display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70064" y="2011680"/>
            <a:ext cx="2103120" cy="237744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70064" y="2011680"/>
            <a:ext cx="2103120" cy="27432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52944" y="22402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8484A"/>
                </a:solidFill>
                <a:latin typeface="SF Pro Display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52944" y="26060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5F7"/>
                </a:solidFill>
                <a:latin typeface="PingFang SC"/>
              </a:rPr>
              <a:t>逐模块迁移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52944" y="31089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86868B"/>
                </a:solidFill>
                <a:latin typeface="PingFang SC"/>
              </a:rPr>
              <a:t>SuperAgent 编写
规范自动遵循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36024" y="27432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8484A"/>
                </a:solidFill>
                <a:latin typeface="SF Pro Display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74352" y="2011680"/>
            <a:ext cx="2103120" cy="237744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74352" y="2011680"/>
            <a:ext cx="2103120" cy="27432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57232" y="22402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8484A"/>
                </a:solidFill>
                <a:latin typeface="SF Pro Display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57232" y="26060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5F7"/>
                </a:solidFill>
                <a:latin typeface="PingFang SC"/>
              </a:rPr>
              <a:t>行为等价验证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57232" y="31089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86868B"/>
                </a:solidFill>
                <a:latin typeface="PingFang SC"/>
              </a:rPr>
              <a:t>API 契约对比
规则覆盖度检查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97280" y="4754880"/>
            <a:ext cx="9966960" cy="9144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8484A"/>
                </a:solidFill>
                <a:latin typeface="PingFang SC"/>
              </a:rPr>
              <a:t>传统方式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303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86868B"/>
                </a:solidFill>
                <a:latin typeface="SF Pro Display"/>
              </a:rPr>
              <a:t>50-65 人天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53035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48484A"/>
                </a:solidFill>
                <a:latin typeface="SF Pro Display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8484A"/>
                </a:solidFill>
                <a:latin typeface="PingFang SC"/>
              </a:rPr>
              <a:t>Forge 辅助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5303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997FF"/>
                </a:solidFill>
                <a:latin typeface="SF Pro Display"/>
              </a:rPr>
              <a:t>5-7 人天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51206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2997FF"/>
                </a:solidFill>
                <a:latin typeface="SF Pro Display"/>
              </a:rPr>
              <a:t>10x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F5F7"/>
                </a:solidFill>
                <a:latin typeface="PingFang SC"/>
              </a:rPr>
              <a:t>速度不缺，缺的是安全网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8484A"/>
                </a:solidFill>
                <a:latin typeface="PingFang SC"/>
              </a:rPr>
              <a:t>首次部署成功率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F5F5F7"/>
                </a:solidFill>
                <a:latin typeface="SF Pro Display"/>
              </a:rPr>
              <a:t>7.7%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600" b="0">
                <a:solidFill>
                  <a:srgbClr val="86868B"/>
                </a:solidFill>
                <a:latin typeface="PingFang SC"/>
              </a:rPr>
              <a:t>13 次尝试，90 分钟，10 个计划外问题。CORS 通配符直接进入 commit，无人察觉。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657600"/>
            <a:ext cx="9966960" cy="9144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9319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F5F7"/>
                </a:solidFill>
                <a:latin typeface="PingFang SC"/>
              </a:rPr>
              <a:t>系统性解决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0">
                <a:solidFill>
                  <a:srgbClr val="86868B"/>
                </a:solidFill>
                <a:latin typeface="PingFang SC"/>
              </a:rPr>
              <a:t>痛点不修补，而是编码为平台能力。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86868B"/>
                </a:solidFill>
                <a:latin typeface="PingFang SC"/>
              </a:rPr>
              <a:t>8 道质量底线自动拦截 + 156 个单元测试，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86868B"/>
                </a:solidFill>
                <a:latin typeface="PingFang SC"/>
              </a:rPr>
              <a:t>让未来的开发者无感地获得保护。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93192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8484A"/>
                </a:solidFill>
                <a:latin typeface="PingFang SC"/>
              </a:rPr>
              <a:t>验收测试通过率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600" b="1">
                <a:solidFill>
                  <a:srgbClr val="2997FF"/>
                </a:solidFill>
                <a:latin typeface="SF Pro Display"/>
              </a:rPr>
              <a:t>94.7%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86868B"/>
                </a:solidFill>
                <a:latin typeface="PingFang SC"/>
              </a:rPr>
              <a:t>38 TC / 11 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8484A"/>
                </a:solidFill>
                <a:latin typeface="PingFang SC"/>
              </a:rPr>
              <a:t>已验证的设计不可隐式退化  ·  开发者痛点即平台能力  ·  四维评估持续监控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F5F7"/>
                </a:solidFill>
                <a:latin typeface="PingFang SC"/>
              </a:rPr>
              <a:t>从工具到平台到生态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997FF"/>
                </a:solidFill>
                <a:latin typeface="SF Pro Display"/>
              </a:rPr>
              <a:t>已完成 ✅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3520440" cy="18288"/>
          </a:xfrm>
          <a:prstGeom prst="rect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520440" cy="393192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560320"/>
            <a:ext cx="2880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PingFang SC"/>
              </a:rPr>
              <a:t/>
            </a:r>
          </a:p>
          <a:p>
            <a:pPr algn="l">
              <a:spcBef>
                <a:spcPts val="1400"/>
              </a:spcBef>
              <a:spcAft>
                <a:spcPts val="200"/>
              </a:spcAft>
            </a:pPr>
            <a:r>
              <a:rPr sz="1500" b="1">
                <a:solidFill>
                  <a:srgbClr val="F5F5F7"/>
                </a:solidFill>
                <a:latin typeface="PingFang SC"/>
              </a:rPr>
              <a:t>Phase 0-1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86868B"/>
                </a:solidFill>
                <a:latin typeface="PingFang SC"/>
              </a:rPr>
              <a:t>骨架 + Web IDE 实连</a:t>
            </a:r>
          </a:p>
          <a:p>
            <a:pPr algn="l">
              <a:spcBef>
                <a:spcPts val="1400"/>
              </a:spcBef>
              <a:spcAft>
                <a:spcPts val="200"/>
              </a:spcAft>
            </a:pPr>
            <a:r>
              <a:rPr sz="1500" b="1">
                <a:solidFill>
                  <a:srgbClr val="F5F5F7"/>
                </a:solidFill>
                <a:latin typeface="PingFang SC"/>
              </a:rPr>
              <a:t>Phase 1.5-1.6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86868B"/>
                </a:solidFill>
                <a:latin typeface="PingFang SC"/>
              </a:rPr>
              <a:t>设计守护 + Docker + AI 交付闭环</a:t>
            </a:r>
          </a:p>
          <a:p>
            <a:pPr algn="l">
              <a:spcBef>
                <a:spcPts val="1400"/>
              </a:spcBef>
              <a:spcAft>
                <a:spcPts val="200"/>
              </a:spcAft>
            </a:pPr>
            <a:r>
              <a:rPr sz="1500" b="1">
                <a:solidFill>
                  <a:srgbClr val="F5F5F7"/>
                </a:solidFill>
                <a:latin typeface="PingFang SC"/>
              </a:rPr>
              <a:t>Phase 2-3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86868B"/>
                </a:solidFill>
                <a:latin typeface="PingFang SC"/>
              </a:rPr>
              <a:t>多模型 + HITL + 质量面板</a:t>
            </a:r>
          </a:p>
          <a:p>
            <a:pPr algn="l">
              <a:spcBef>
                <a:spcPts val="1400"/>
              </a:spcBef>
              <a:spcAft>
                <a:spcPts val="200"/>
              </a:spcAft>
            </a:pPr>
            <a:r>
              <a:rPr sz="1500" b="1">
                <a:solidFill>
                  <a:srgbClr val="F5F5F7"/>
                </a:solidFill>
                <a:latin typeface="PingFang SC"/>
              </a:rPr>
              <a:t>Phase 4-5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86868B"/>
                </a:solidFill>
                <a:latin typeface="PingFang SC"/>
              </a:rPr>
              <a:t>Skill 架构 + 3 层记忆</a:t>
            </a:r>
          </a:p>
          <a:p>
            <a:pPr algn="l">
              <a:spcBef>
                <a:spcPts val="1400"/>
              </a:spcBef>
              <a:spcAft>
                <a:spcPts val="200"/>
              </a:spcAft>
            </a:pPr>
            <a:r>
              <a:rPr sz="1500" b="1">
                <a:solidFill>
                  <a:srgbClr val="F5F5F7"/>
                </a:solidFill>
                <a:latin typeface="PingFang SC"/>
              </a:rPr>
              <a:t>Phase 6-7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86868B"/>
                </a:solidFill>
                <a:latin typeface="PingFang SC"/>
              </a:rPr>
              <a:t>产品加固 + 评估 + 学习闭环框架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64592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5F7"/>
                </a:solidFill>
                <a:latin typeface="SF Pro Display"/>
              </a:rPr>
              <a:t>下一步 — 知识链路闭合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6280" y="2103120"/>
            <a:ext cx="3520440" cy="1828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26280" y="2286000"/>
            <a:ext cx="3520440" cy="393192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2560320"/>
            <a:ext cx="2880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PingFang SC"/>
              </a:rPr>
              <a:t/>
            </a:r>
          </a:p>
          <a:p>
            <a:pPr algn="l">
              <a:spcBef>
                <a:spcPts val="1400"/>
              </a:spcBef>
              <a:spcAft>
                <a:spcPts val="200"/>
              </a:spcAft>
            </a:pPr>
            <a:r>
              <a:rPr sz="1500" b="1">
                <a:solidFill>
                  <a:srgbClr val="F5F5F7"/>
                </a:solidFill>
                <a:latin typeface="PingFang SC"/>
              </a:rPr>
              <a:t>Phase 8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86868B"/>
                </a:solidFill>
                <a:latin typeface="PingFang SC"/>
              </a:rPr>
              <a:t>进化环全面打通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86868B"/>
                </a:solidFill>
                <a:latin typeface="PingFang SC"/>
              </a:rPr>
              <a:t>知识自动提取 → 私域知识库沉淀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86868B"/>
                </a:solidFill>
                <a:latin typeface="PingFang SC"/>
              </a:rPr>
              <a:t>Convention 挖掘 → Skill 自动更新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86868B"/>
                </a:solidFill>
                <a:latin typeface="PingFang SC"/>
              </a:rPr>
              <a:t>知识空白检测 → 自动生成文档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86868B"/>
                </a:solidFill>
                <a:latin typeface="PingFang SC"/>
              </a:rPr>
              <a:t>执行日志 → 四维评估 → 反哺交付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64592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8484A"/>
                </a:solidFill>
                <a:latin typeface="SF Pro Display"/>
              </a:rPr>
              <a:t>远景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2103120"/>
            <a:ext cx="3520440" cy="18288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0" y="2286000"/>
            <a:ext cx="3520440" cy="393192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2560320"/>
            <a:ext cx="2880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PingFang SC"/>
              </a:rPr>
              <a:t/>
            </a:r>
          </a:p>
          <a:p>
            <a:pPr algn="l">
              <a:spcBef>
                <a:spcPts val="1400"/>
              </a:spcBef>
              <a:spcAft>
                <a:spcPts val="200"/>
              </a:spcAft>
            </a:pPr>
            <a:r>
              <a:rPr sz="1500" b="1">
                <a:solidFill>
                  <a:srgbClr val="F5F5F7"/>
                </a:solidFill>
                <a:latin typeface="PingFang SC"/>
              </a:rPr>
              <a:t>Phase 9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86868B"/>
                </a:solidFill>
                <a:latin typeface="PingFang SC"/>
              </a:rPr>
              <a:t>生产就绪 + 团队协作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86868B"/>
                </a:solidFill>
                <a:latin typeface="PingFang SC"/>
              </a:rPr>
              <a:t>PostgreSQL + 多租户 + CI/CD</a:t>
            </a:r>
          </a:p>
          <a:p>
            <a:pPr algn="l">
              <a:spcBef>
                <a:spcPts val="1400"/>
              </a:spcBef>
              <a:spcAft>
                <a:spcPts val="200"/>
              </a:spcAft>
            </a:pPr>
            <a:r>
              <a:rPr sz="1500" b="1">
                <a:solidFill>
                  <a:srgbClr val="F5F5F7"/>
                </a:solidFill>
                <a:latin typeface="PingFang SC"/>
              </a:rPr>
              <a:t>Phase 10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86868B"/>
                </a:solidFill>
                <a:latin typeface="PingFang SC"/>
              </a:rPr>
              <a:t>生态扩展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86868B"/>
                </a:solidFill>
                <a:latin typeface="PingFang SC"/>
              </a:rPr>
              <a:t>Skill Marketplace + CLI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48484A"/>
                </a:solidFill>
                <a:latin typeface="PingFang SC"/>
              </a:rPr>
              <a:t>终局：Skill + 私域知识双飞轮  ·  交付即沉淀  ·  越用越强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F5F7"/>
                </a:solidFill>
                <a:latin typeface="PingFang SC"/>
              </a:rPr>
              <a:t>下一步需要什么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10698480" cy="128016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45720" cy="1280160"/>
          </a:xfrm>
          <a:prstGeom prst="rect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997FF"/>
                </a:solidFill>
                <a:latin typeface="SF Pro Display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874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5F5F7"/>
                </a:solidFill>
                <a:latin typeface="PingFang SC"/>
              </a:rPr>
              <a:t>1 个试点项目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331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86868B"/>
                </a:solidFill>
                <a:latin typeface="PingFang SC"/>
              </a:rPr>
              <a:t>选一个真实业务项目（迁移或新建均可），验证 Skill + 知识 双飞轮。
全流程跑通：交付 → 知识沉淀 → 下次交付更快——验证进化环价值。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10698480" cy="128016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291840"/>
            <a:ext cx="45720" cy="1280160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5204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8484A"/>
                </a:solidFill>
                <a:latin typeface="SF Pro Display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3429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5F5F7"/>
                </a:solidFill>
                <a:latin typeface="PingFang SC"/>
              </a:rPr>
              <a:t>5-10 人内部试用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886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86868B"/>
                </a:solidFill>
                <a:latin typeface="PingFang SC"/>
              </a:rPr>
              <a:t>Web IDE 已支持 SSO + 多 Workspace + 6 家模型。
真实用户的交付数据是知识链路闭合最关键的燃料。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846320"/>
            <a:ext cx="10698480" cy="128016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846320"/>
            <a:ext cx="45720" cy="1280160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0749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8484A"/>
                </a:solidFill>
                <a:latin typeface="SF Pro Display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983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5F5F7"/>
                </a:solidFill>
                <a:latin typeface="PingFang SC"/>
              </a:rPr>
              <a:t>知识运营支持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5440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86868B"/>
                </a:solidFill>
                <a:latin typeface="PingFang SC"/>
              </a:rPr>
              <a:t>知识管理员 + 领域专家协助梳理私域知识初始集。
框架已就绪，需要真实的业务知识灌入，让飞轮转起来。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88160" y="1719070"/>
            <a:ext cx="614460" cy="13167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63720" y="1543510"/>
            <a:ext cx="263340" cy="2048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46680" y="1470360"/>
            <a:ext cx="497420" cy="10241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44100" y="1499620"/>
            <a:ext cx="160930" cy="585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6044185" y="1324060"/>
            <a:ext cx="102410" cy="102410"/>
          </a:xfrm>
          <a:prstGeom prst="diamond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63720" y="1382580"/>
            <a:ext cx="36575" cy="36575"/>
          </a:xfrm>
          <a:prstGeom prst="ellipse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241690" y="1367950"/>
            <a:ext cx="29260" cy="29260"/>
          </a:xfrm>
          <a:prstGeom prst="ellipse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6870" y="1265540"/>
            <a:ext cx="21945" cy="21945"/>
          </a:xfrm>
          <a:prstGeom prst="ellipse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197800" y="1280170"/>
            <a:ext cx="21945" cy="21945"/>
          </a:xfrm>
          <a:prstGeom prst="ellipse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4688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48484A"/>
                </a:solidFill>
                <a:latin typeface="PingFang SC"/>
              </a:rPr>
              <a:t>每一次交付，都在沉淀知识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004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5F5F7"/>
                </a:solidFill>
                <a:latin typeface="PingFang SC"/>
              </a:rPr>
              <a:t>每一次沉淀，都让下次交付更强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1148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997FF"/>
                </a:solidFill>
                <a:latin typeface="PingFang SC"/>
              </a:rPr>
              <a:t>Skill + 私域知识 — 不可复制的双护城河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4663440"/>
            <a:ext cx="1554480" cy="18288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0292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48484A"/>
                </a:solidFill>
                <a:latin typeface="SF Pro Display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